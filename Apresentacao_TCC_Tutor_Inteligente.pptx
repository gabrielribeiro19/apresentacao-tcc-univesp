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unive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57200"/>
            <a:ext cx="1828800" cy="10770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67EEA"/>
                </a:solidFill>
              </a:defRPr>
            </a:pPr>
            <a:r>
              <a:t>UNIVERSIDADE VIRTUAL DO ESTADO DE SÃO PAULO</a:t>
            </a:r>
          </a:p>
          <a:p>
            <a:r>
              <a:t>UNIVESP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7EEA"/>
                </a:solidFill>
              </a:defRPr>
            </a:pPr>
            <a:r>
              <a:t>Bacharel em Engenharia da Computação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Tutor Inteligente e Adaptativo em Inteligência Artificial</a:t>
            </a:r>
          </a:p>
          <a:p>
            <a:r>
              <a:t>para Personalização do Ensino de Matemática</a:t>
            </a:r>
          </a:p>
          <a:p>
            <a:r>
              <a:t>no 2º Ano do Ensino Médio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Brenno Calderan Brossi, RA 221084</a:t>
            </a:r>
          </a:p>
          <a:p>
            <a:r>
              <a:t>Camila Cristina Paiva Vieira, RA 2101658</a:t>
            </a:r>
          </a:p>
          <a:p>
            <a:r>
              <a:t>Eder Clauber dos Santos dos Anjos, RA 1806662</a:t>
            </a:r>
          </a:p>
          <a:p>
            <a:r>
              <a:t>Franklin Leandro Martins, RA 1401068</a:t>
            </a:r>
          </a:p>
          <a:p>
            <a:r>
              <a:t>Gabriel Henrique Souza Ribeiro, RA 2213730</a:t>
            </a:r>
          </a:p>
          <a:p>
            <a:r>
              <a:t>Julio Anderson Guimarães Leite, RA 2104217</a:t>
            </a:r>
          </a:p>
          <a:p>
            <a:r>
              <a:t>Tiago Prado Moreira, RA 2109577</a:t>
            </a:r>
          </a:p>
          <a:p>
            <a:r>
              <a:t>Vera Lucia de Oliveira Silverio, RA 2231483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Orientador: Prof. Alex Sandro Rodrigues Ancioto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São Paulo - SP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Contextualização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Baixos índices de proficiência em Matemática no Ensino Médio (INEP, 2023)</a:t>
            </a:r>
          </a:p>
          <a:p>
            <a:pPr>
              <a:spcAft>
                <a:spcPts val="1200"/>
              </a:spcAft>
              <a:defRPr sz="1800"/>
            </a:pPr>
            <a:r>
              <a:t>• Desempenho brasileiro abaixo da média internacional (PISA, 2023)</a:t>
            </a:r>
          </a:p>
          <a:p>
            <a:pPr>
              <a:spcAft>
                <a:spcPts val="1200"/>
              </a:spcAft>
              <a:defRPr sz="1800"/>
            </a:pPr>
            <a:r>
              <a:t>• Metodologias tradicionais uniformizam o ensino, desconsiderando diferenças individuais</a:t>
            </a:r>
          </a:p>
          <a:p>
            <a:pPr>
              <a:spcAft>
                <a:spcPts val="1200"/>
              </a:spcAft>
              <a:defRPr sz="1800"/>
            </a:pPr>
            <a:r>
              <a:t>• IA como alternativa promissora para personalização do ensino</a:t>
            </a:r>
          </a:p>
          <a:p>
            <a:pPr>
              <a:spcAft>
                <a:spcPts val="1200"/>
              </a:spcAft>
              <a:defRPr sz="1800"/>
            </a:pPr>
            <a:r>
              <a:t>• Potencial para reduzir desigualdades e ampliar acesso (UNESCO, 2023)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Problema de Pesquisa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Como desenvolver um tutor inteligente, baseado em IA, capaz de personalizar o ensino de Matemática para estudantes do Ensino Médio, considerando princípios éticos, pedagógicos e de acessibilidade?</a:t>
            </a:r>
          </a:p>
          <a:p/>
          <a:p>
            <a:pPr>
              <a:spcAft>
                <a:spcPts val="1000"/>
              </a:spcAft>
              <a:defRPr sz="1800"/>
            </a:pPr>
            <a:r>
              <a:t>• Educação tradicional não atende diferenças individuais</a:t>
            </a:r>
          </a:p>
          <a:p>
            <a:pPr>
              <a:spcAft>
                <a:spcPts val="1000"/>
              </a:spcAft>
              <a:defRPr sz="1800"/>
            </a:pPr>
            <a:r>
              <a:t>• Dificuldades persistentes em Matemática comprometem desempenho</a:t>
            </a:r>
          </a:p>
          <a:p>
            <a:pPr>
              <a:spcAft>
                <a:spcPts val="1000"/>
              </a:spcAft>
              <a:defRPr sz="1800"/>
            </a:pPr>
            <a:r>
              <a:t>• Necessidade de abordagens flexíveis e individualizadas</a:t>
            </a:r>
          </a:p>
          <a:p>
            <a:pPr>
              <a:spcAft>
                <a:spcPts val="1000"/>
              </a:spcAft>
              <a:defRPr sz="1800"/>
            </a:pPr>
            <a:r>
              <a:t>• IA pode promover experiências adaptativas e maior engajamento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Justificativa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• Pessoal: Reflexões próprias sobre inovação educacional</a:t>
            </a:r>
          </a:p>
          <a:p>
            <a:pPr>
              <a:spcAft>
                <a:spcPts val="1200"/>
              </a:spcAft>
              <a:defRPr sz="2000"/>
            </a:pPr>
            <a:r>
              <a:t>• Acadêmica: Contribuição com pesquisas sobre Sistemas Tutores Inteligentes</a:t>
            </a:r>
          </a:p>
          <a:p>
            <a:pPr>
              <a:spcAft>
                <a:spcPts val="1200"/>
              </a:spcAft>
              <a:defRPr sz="2000"/>
            </a:pPr>
            <a:r>
              <a:t>• Profissional: Aplicável em plataformas digitais e cursos preparatórios</a:t>
            </a:r>
          </a:p>
          <a:p>
            <a:pPr>
              <a:spcAft>
                <a:spcPts val="1200"/>
              </a:spcAft>
              <a:defRPr sz="2000"/>
            </a:pPr>
            <a:r>
              <a:t>• Social: Ampliar acesso a ferramentas de ensino personalizado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b="1" sz="2000"/>
            </a:pPr>
            <a:r>
              <a:t>IA como apoio ao professor, não substituição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667EEA"/>
                </a:solidFill>
              </a:defRPr>
            </a:pPr>
            <a:r>
              <a:t>Objetivo Geral:</a:t>
            </a:r>
          </a:p>
          <a:p>
            <a:pPr>
              <a:defRPr sz="1800"/>
            </a:pPr>
            <a:r>
              <a:t>Propor e descrever um modelo teórico de tutor inteligente e adaptativo, baseado em IA com foco na personalização do ensino de matemática no segundo ano do ensino médio.</a:t>
            </a:r>
          </a:p>
          <a:p/>
          <a:p>
            <a:pPr>
              <a:defRPr sz="2200" b="1">
                <a:solidFill>
                  <a:srgbClr val="667EEA"/>
                </a:solidFill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800"/>
            </a:pPr>
            <a:r>
              <a:t>• Mapear técnicas de IA aplicáveis à personalização</a:t>
            </a:r>
          </a:p>
          <a:p>
            <a:pPr>
              <a:spcAft>
                <a:spcPts val="800"/>
              </a:spcAft>
              <a:defRPr sz="1800"/>
            </a:pPr>
            <a:r>
              <a:t>• Integrar fundamentos pedagógicos (Piaget e Vygotsky)</a:t>
            </a:r>
          </a:p>
          <a:p>
            <a:pPr>
              <a:spcAft>
                <a:spcPts val="800"/>
              </a:spcAft>
              <a:defRPr sz="1800"/>
            </a:pPr>
            <a:r>
              <a:t>• Definir requisitos e personas de estudantes</a:t>
            </a:r>
          </a:p>
          <a:p>
            <a:pPr>
              <a:spcAft>
                <a:spcPts val="800"/>
              </a:spcAft>
              <a:defRPr sz="1800"/>
            </a:pPr>
            <a:r>
              <a:t>• Estruturar arquitetura conceitual do tutor adaptativo</a:t>
            </a:r>
          </a:p>
          <a:p>
            <a:pPr>
              <a:spcAft>
                <a:spcPts val="800"/>
              </a:spcAft>
              <a:defRPr sz="1800"/>
            </a:pPr>
            <a:r>
              <a:t>• Discutir vantagens, limitações e riscos do modelo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Metodologia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Tipo: Pesquisa qualitativa e exploratória</a:t>
            </a:r>
          </a:p>
          <a:p>
            <a:pPr>
              <a:spcAft>
                <a:spcPts val="1000"/>
              </a:spcAft>
              <a:defRPr sz="1800"/>
            </a:pPr>
            <a:r>
              <a:t>• Revisão Bibliográfica: IEEE Xplore, SciELO, Portal CAPES</a:t>
            </a:r>
          </a:p>
          <a:p>
            <a:pPr>
              <a:spcAft>
                <a:spcPts val="1000"/>
              </a:spcAft>
              <a:defRPr sz="1800"/>
            </a:pPr>
            <a:r>
              <a:t>• Fundamentos Pedagógicos: Piaget (1999) e Vygotsky (2007)</a:t>
            </a:r>
          </a:p>
          <a:p>
            <a:pPr>
              <a:spcAft>
                <a:spcPts val="1000"/>
              </a:spcAft>
              <a:defRPr sz="1800"/>
            </a:pPr>
            <a:r>
              <a:t>• Experimentação: Modelos LLM executados localmente via Ollama</a:t>
            </a:r>
          </a:p>
          <a:p>
            <a:pPr>
              <a:spcAft>
                <a:spcPts val="1000"/>
              </a:spcAft>
              <a:defRPr sz="1800"/>
            </a:pPr>
            <a:r>
              <a:t>• Testes: 10 estudantes com questionários de avaliação</a:t>
            </a:r>
          </a:p>
          <a:p>
            <a:pPr>
              <a:spcAft>
                <a:spcPts val="1000"/>
              </a:spcAft>
              <a:defRPr sz="1800"/>
            </a:pPr>
            <a:r>
              <a:t>• Análise: Qualitativa com foco em usabilidade e adequação pedagógica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Arquitetura do Tutor Inteligente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• Modelo do Estudante: Acompanha progresso e adapta conteúdo</a:t>
            </a:r>
          </a:p>
          <a:p>
            <a:pPr>
              <a:spcAft>
                <a:spcPts val="1200"/>
              </a:spcAft>
              <a:defRPr sz="2000"/>
            </a:pPr>
            <a:r>
              <a:t>• Modelo Pedagógico: Baseado em Piaget e Vygotsky</a:t>
            </a:r>
          </a:p>
          <a:p>
            <a:pPr>
              <a:spcAft>
                <a:spcPts val="1200"/>
              </a:spcAft>
              <a:defRPr sz="2000"/>
            </a:pPr>
            <a:r>
              <a:t>• Base de Conteúdos: Materiais do 2º ano do Ensino Médio</a:t>
            </a:r>
          </a:p>
          <a:p>
            <a:pPr>
              <a:spcAft>
                <a:spcPts val="1200"/>
              </a:spcAft>
              <a:defRPr sz="2000"/>
            </a:pPr>
            <a:r>
              <a:t>• Motor de IA: LLMs locais (LLaMA 3, Mistral, Phi-3)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667EEA"/>
                </a:solidFill>
              </a:defRPr>
            </a:pPr>
            <a:r>
              <a:t>Vantagens da Execução Local (Ollama)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• Privacidade: Dados permanecem no ambiente local</a:t>
            </a:r>
          </a:p>
          <a:p>
            <a:pPr>
              <a:spcAft>
                <a:spcPts val="1200"/>
              </a:spcAft>
              <a:defRPr sz="2000"/>
            </a:pPr>
            <a:r>
              <a:t>• Custo: Reduzido, sem dependência de servidores externos</a:t>
            </a:r>
          </a:p>
          <a:p>
            <a:pPr>
              <a:spcAft>
                <a:spcPts val="1200"/>
              </a:spcAft>
              <a:defRPr sz="2000"/>
            </a:pPr>
            <a:r>
              <a:t>• Acessibilidade: Funciona com baixa conectividade</a:t>
            </a:r>
          </a:p>
          <a:p>
            <a:pPr>
              <a:spcAft>
                <a:spcPts val="1200"/>
              </a:spcAft>
              <a:defRPr sz="2000"/>
            </a:pPr>
            <a:r>
              <a:t>• Customização: Ajustável para conteúdos específicos</a:t>
            </a:r>
          </a:p>
          <a:p>
            <a:pPr>
              <a:spcAft>
                <a:spcPts val="1200"/>
              </a:spcAft>
              <a:defRPr sz="2000"/>
            </a:pPr>
            <a:r>
              <a:t>• Controle: Total sobre dados dos estudantes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• Média de avaliação: 4,2 a 4,8 (escala 0-5)</a:t>
            </a:r>
          </a:p>
          <a:p>
            <a:pPr>
              <a:spcAft>
                <a:spcPts val="1200"/>
              </a:spcAft>
              <a:defRPr sz="2000"/>
            </a:pPr>
            <a:r>
              <a:t>• 10 usuários testados</a:t>
            </a:r>
          </a:p>
          <a:p>
            <a:pPr>
              <a:spcAft>
                <a:spcPts val="1200"/>
              </a:spcAft>
              <a:defRPr sz="2000"/>
            </a:pPr>
            <a:r>
              <a:t>• Boa aceitação e desempenho satisfatório</a:t>
            </a:r>
          </a:p>
          <a:p>
            <a:pPr>
              <a:spcAft>
                <a:spcPts val="1200"/>
              </a:spcAft>
              <a:defRPr sz="2000"/>
            </a:pPr>
            <a:r>
              <a:t>• Viabilidade comprovada de modelos locais</a:t>
            </a:r>
          </a:p>
          <a:p>
            <a:pPr>
              <a:spcAft>
                <a:spcPts val="1200"/>
              </a:spcAft>
              <a:defRPr sz="2000"/>
            </a:pPr>
            <a:r>
              <a:t>• Potencial para reforçar aprendizado e explicações personalizadas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• IA representa oportunidade valiosa para inovar práticas pedagógicas</a:t>
            </a:r>
          </a:p>
          <a:p>
            <a:pPr>
              <a:spcAft>
                <a:spcPts val="1000"/>
              </a:spcAft>
              <a:defRPr sz="2000"/>
            </a:pPr>
            <a:r>
              <a:t>• Potencializa personalização, engajamento e eficácia das avaliações</a:t>
            </a:r>
          </a:p>
          <a:p>
            <a:pPr>
              <a:spcAft>
                <a:spcPts val="1000"/>
              </a:spcAft>
              <a:defRPr sz="2000"/>
            </a:pPr>
            <a:r>
              <a:t>• Atua como ponte entre conhecimento formal e realidade dos estudantes</a:t>
            </a:r>
          </a:p>
          <a:p>
            <a:pPr>
              <a:spcAft>
                <a:spcPts val="1000"/>
              </a:spcAft>
              <a:defRPr sz="2000"/>
            </a:pPr>
            <a:r>
              <a:t>• Necessário investir em formação docente e infraestrutura tecnológica</a:t>
            </a:r>
          </a:p>
          <a:p>
            <a:pPr>
              <a:spcAft>
                <a:spcPts val="1000"/>
              </a:spcAft>
              <a:defRPr sz="2000"/>
            </a:pPr>
            <a:r>
              <a:t>• Uso ético e responsável pode tornar o ensino mais inclusivo e significativo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defRPr b="1" sz="2200">
                <a:solidFill>
                  <a:srgbClr val="667EEA"/>
                </a:solidFill>
              </a:defRPr>
            </a:pPr>
            <a:r>
              <a:t>A tecnologia, aliada ao olhar humano, tem potencial transformador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Agradecimentos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800" b="1"/>
            </a:pPr>
            <a:r>
              <a:t>Obrigado pela atenção!</a:t>
            </a:r>
          </a:p>
          <a:p/>
          <a:p>
            <a:pPr algn="ctr">
              <a:defRPr sz="2400" b="1"/>
            </a:pPr>
            <a:r>
              <a:t>Banca Examinadora</a:t>
            </a:r>
          </a:p>
          <a:p/>
          <a:p>
            <a:pPr algn="ctr">
              <a:defRPr sz="2000">
                <a:solidFill>
                  <a:srgbClr val="667EEA"/>
                </a:solidFill>
              </a:defRPr>
            </a:pPr>
            <a:r>
              <a:t>Estamos à disposição para perguntas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